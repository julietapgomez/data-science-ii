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aven Pro" panose="020B0604020202020204" charset="0"/>
      <p:regular r:id="rId17"/>
      <p:bold r:id="rId18"/>
    </p:embeddedFont>
    <p:embeddedFont>
      <p:font typeface="Nunito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ae5baf937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ae5baf937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ae5baf937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ae5baf937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ae5baf937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ae5baf937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ae5baf937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ae5baf937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ae5baf937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ae5baf937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ae5baf937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ae5baf937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ae5baf937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9ae5baf937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ae5baf937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9ae5baf937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762100" y="581750"/>
            <a:ext cx="62991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dirty="0"/>
              <a:t>Entrega Final - Data Science II</a:t>
            </a:r>
            <a:endParaRPr sz="3000" dirty="0"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762100" y="2302150"/>
            <a:ext cx="7207500" cy="19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/>
              <a:t>Uso de redes sociales y bienestar emocional y mental en estudiantes</a:t>
            </a:r>
            <a:endParaRPr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/>
              <a:t>Autor: Julieta Gómez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/>
              <a:t>Año: 2025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542550" y="484763"/>
            <a:ext cx="41301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y Audiencia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303800" y="1412175"/>
            <a:ext cx="7030500" cy="31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 b="1"/>
              <a:t>Contexto</a:t>
            </a:r>
            <a:r>
              <a:rPr lang="es" sz="2000"/>
              <a:t>: En un contexto donde las redes sociales ocupan gran parte del tiempo de los jóvenes, este proyecto busca analizar cómo el uso diario de estas plataformas impacta en el descanso y el bienestar emocional de los estudiantes.</a:t>
            </a:r>
            <a:endParaRPr sz="20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 b="1"/>
              <a:t>Audiencia</a:t>
            </a:r>
            <a:r>
              <a:rPr lang="es" sz="2000"/>
              <a:t>: Este análisis está orientado a docentes, profesionales y estudiantes interesados en el comportamiento digital, la educación y la salud mental.</a:t>
            </a:r>
            <a:endParaRPr sz="2000"/>
          </a:p>
        </p:txBody>
      </p:sp>
      <p:pic>
        <p:nvPicPr>
          <p:cNvPr id="285" name="Google Shape;285;p14" title="publico-obje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750" y="544437"/>
            <a:ext cx="879974" cy="87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Hipótesis o Preguntas de interés</a:t>
            </a:r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body" idx="1"/>
          </p:nvPr>
        </p:nvSpPr>
        <p:spPr>
          <a:xfrm>
            <a:off x="2547400" y="1597875"/>
            <a:ext cx="5732100" cy="30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/>
              <a:t>Hipótesis principal: </a:t>
            </a:r>
            <a:r>
              <a:rPr lang="es" sz="1500"/>
              <a:t>El uso intensivo de redes sociales se asocia con un menor descanso y un bienestar emocional más bajo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 b="1"/>
              <a:t>Preguntas de interés:.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¿Qué plataformas concentran más tiempo diario?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¿Existen diferencias de uso entre géneros?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¿Cómo varía la salud mental según las horas de sueño?</a:t>
            </a:r>
            <a:endParaRPr sz="15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pic>
        <p:nvPicPr>
          <p:cNvPr id="292" name="Google Shape;292;p15" title="hipote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625" y="1526175"/>
            <a:ext cx="999300" cy="9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 title="pregun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225" y="2958750"/>
            <a:ext cx="1194100" cy="11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56424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y herramientas utilizadas</a:t>
            </a:r>
            <a:endParaRPr/>
          </a:p>
        </p:txBody>
      </p:sp>
      <p:sp>
        <p:nvSpPr>
          <p:cNvPr id="299" name="Google Shape;299;p16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Dataset: Students Social Media Addiction.csv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API: RestCountries (países, regiones, población)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Librerías: Pandas, Numpy, SQLite3, Matplotlib, Seaborn, Statsmodels, GeoPandas, Scikit-learn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Entorno; Google Colab</a:t>
            </a:r>
            <a:endParaRPr sz="2000"/>
          </a:p>
        </p:txBody>
      </p:sp>
      <p:pic>
        <p:nvPicPr>
          <p:cNvPr id="300" name="Google Shape;300;p16" title="logotipo-de-python-langu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7950" y="624688"/>
            <a:ext cx="947075" cy="9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>
            <a:spLocks noGrp="1"/>
          </p:cNvSpPr>
          <p:nvPr>
            <p:ph type="title"/>
          </p:nvPr>
        </p:nvSpPr>
        <p:spPr>
          <a:xfrm>
            <a:off x="1303800" y="471575"/>
            <a:ext cx="70305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exploratorio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0"/>
              <a:t>¿Qué patrones se observan en el comportamiento digital?</a:t>
            </a:r>
            <a:endParaRPr sz="1650" b="0"/>
          </a:p>
        </p:txBody>
      </p:sp>
      <p:sp>
        <p:nvSpPr>
          <p:cNvPr id="306" name="Google Shape;306;p17"/>
          <p:cNvSpPr txBox="1">
            <a:spLocks noGrp="1"/>
          </p:cNvSpPr>
          <p:nvPr>
            <p:ph type="body" idx="1"/>
          </p:nvPr>
        </p:nvSpPr>
        <p:spPr>
          <a:xfrm>
            <a:off x="738200" y="4043575"/>
            <a:ext cx="7239600" cy="7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600"/>
              <a:t>Se observaron correlaciones negativas entre el uso de redes sociales y las horas de sueño, y entre el uso y el puntaje de salud mental.</a:t>
            </a:r>
            <a:endParaRPr sz="4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600"/>
              <a:t>Los usuarios con más de 6 horas diarias presentan menor bienestar emocional promedio.</a:t>
            </a:r>
            <a:endParaRPr sz="46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307" name="Google Shape;307;p17" title="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225" y="1461725"/>
            <a:ext cx="3405966" cy="258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903" y="1362400"/>
            <a:ext cx="3899847" cy="25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Storytelling GIS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0"/>
              <a:t>Mapa: uso promedio por país</a:t>
            </a:r>
            <a:endParaRPr sz="1650" b="0"/>
          </a:p>
        </p:txBody>
      </p:sp>
      <p:sp>
        <p:nvSpPr>
          <p:cNvPr id="314" name="Google Shape;314;p18"/>
          <p:cNvSpPr txBox="1">
            <a:spLocks noGrp="1"/>
          </p:cNvSpPr>
          <p:nvPr>
            <p:ph type="body" idx="1"/>
          </p:nvPr>
        </p:nvSpPr>
        <p:spPr>
          <a:xfrm>
            <a:off x="1142458" y="3999919"/>
            <a:ext cx="7030500" cy="1081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/>
              <a:t>El mapa GIS muestra que las regiones de América y Asia presentan los valores promedio más altos de uso diario.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 dirty="0"/>
              <a:t>Esto podría reflejar hábitos digitales más intensivos en contextos con alta conectividad y penetración tecnológica.</a:t>
            </a:r>
            <a:endParaRPr sz="1200" dirty="0"/>
          </a:p>
        </p:txBody>
      </p:sp>
      <p:pic>
        <p:nvPicPr>
          <p:cNvPr id="315" name="Google Shape;3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495051"/>
            <a:ext cx="3523033" cy="22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univariado, bivariado y multivariado</a:t>
            </a:r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body" idx="1"/>
          </p:nvPr>
        </p:nvSpPr>
        <p:spPr>
          <a:xfrm>
            <a:off x="1303800" y="381435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800"/>
              <a:t>El modelo de regresión múltiple confirmó que las horas de uso y el nivel de adicción son predictores significativos del bienestar emocional.</a:t>
            </a:r>
            <a:endParaRPr sz="4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800"/>
              <a:t>El ANOVA mostró diferencias estadísticamente significativas en la salud mental entre niveles de uso (“bajo”, “alto”, “muy alto”).</a:t>
            </a:r>
            <a:endParaRPr sz="48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2" name="Google Shape;3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150" y="1597875"/>
            <a:ext cx="3391425" cy="22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4625" y="1597875"/>
            <a:ext cx="2719467" cy="22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Insights y Recomendaciones</a:t>
            </a:r>
            <a:endParaRPr/>
          </a:p>
        </p:txBody>
      </p:sp>
      <p:sp>
        <p:nvSpPr>
          <p:cNvPr id="329" name="Google Shape;329;p20"/>
          <p:cNvSpPr txBox="1">
            <a:spLocks noGrp="1"/>
          </p:cNvSpPr>
          <p:nvPr>
            <p:ph type="body" idx="1"/>
          </p:nvPr>
        </p:nvSpPr>
        <p:spPr>
          <a:xfrm>
            <a:off x="4409275" y="1353100"/>
            <a:ext cx="4467000" cy="3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 b="1" dirty="0">
                <a:solidFill>
                  <a:srgbClr val="000000"/>
                </a:solidFill>
              </a:rPr>
              <a:t>Insights principales:</a:t>
            </a:r>
            <a:endParaRPr sz="4000" b="1" dirty="0">
              <a:solidFill>
                <a:srgbClr val="000000"/>
              </a:solidFill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es" sz="4000" dirty="0">
                <a:solidFill>
                  <a:srgbClr val="000000"/>
                </a:solidFill>
              </a:rPr>
              <a:t>Mayor uso = menor descanso. </a:t>
            </a:r>
            <a:br>
              <a:rPr lang="es" sz="4000" dirty="0">
                <a:solidFill>
                  <a:srgbClr val="000000"/>
                </a:solidFill>
              </a:rPr>
            </a:br>
            <a:endParaRPr sz="4000" dirty="0">
              <a:solidFill>
                <a:srgbClr val="000000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es" sz="4000" dirty="0">
                <a:solidFill>
                  <a:srgbClr val="000000"/>
                </a:solidFill>
              </a:rPr>
              <a:t>Los usuarios intensivos muestran mayor adicción y menor bienestar.</a:t>
            </a:r>
            <a:br>
              <a:rPr lang="es" sz="4000" dirty="0">
                <a:solidFill>
                  <a:srgbClr val="000000"/>
                </a:solidFill>
              </a:rPr>
            </a:br>
            <a:endParaRPr sz="4000" dirty="0">
              <a:solidFill>
                <a:srgbClr val="000000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es" sz="4000" dirty="0">
                <a:solidFill>
                  <a:srgbClr val="000000"/>
                </a:solidFill>
              </a:rPr>
              <a:t>TikTok e Instagram concentran el mayor tiempo de permanencia.</a:t>
            </a:r>
            <a:br>
              <a:rPr lang="es" sz="4000" dirty="0">
                <a:solidFill>
                  <a:srgbClr val="000000"/>
                </a:solidFill>
              </a:rPr>
            </a:br>
            <a:endParaRPr sz="4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 b="1" dirty="0">
                <a:solidFill>
                  <a:srgbClr val="000000"/>
                </a:solidFill>
              </a:rPr>
              <a:t>Recomendaciones:</a:t>
            </a:r>
            <a:endParaRPr sz="4000" b="1" dirty="0">
              <a:solidFill>
                <a:srgbClr val="000000"/>
              </a:solidFill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es" sz="4000" dirty="0">
                <a:solidFill>
                  <a:srgbClr val="000000"/>
                </a:solidFill>
              </a:rPr>
              <a:t>Fomentar pausas digitales y límites nocturnos.</a:t>
            </a:r>
            <a:br>
              <a:rPr lang="es" sz="4000" dirty="0">
                <a:solidFill>
                  <a:srgbClr val="000000"/>
                </a:solidFill>
              </a:rPr>
            </a:br>
            <a:endParaRPr sz="4000" dirty="0">
              <a:solidFill>
                <a:srgbClr val="000000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es" sz="4000" dirty="0">
                <a:solidFill>
                  <a:srgbClr val="000000"/>
                </a:solidFill>
              </a:rPr>
              <a:t>Promover educación digital en instituciones educativas.</a:t>
            </a:r>
            <a:br>
              <a:rPr lang="es" sz="4000" dirty="0">
                <a:solidFill>
                  <a:srgbClr val="000000"/>
                </a:solidFill>
              </a:rPr>
            </a:br>
            <a:endParaRPr sz="4000" dirty="0">
              <a:solidFill>
                <a:srgbClr val="000000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es" sz="4000" dirty="0">
                <a:solidFill>
                  <a:srgbClr val="000000"/>
                </a:solidFill>
              </a:rPr>
              <a:t>Desarrollar estrategias de autocuidado tecnológico.</a:t>
            </a:r>
            <a:endParaRPr sz="4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30" name="Google Shape;3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98" y="1353038"/>
            <a:ext cx="3678825" cy="35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0" title="dormi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7300" y="1680875"/>
            <a:ext cx="302950" cy="30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 title="moon_161417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2576" y="3416725"/>
            <a:ext cx="248375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 title="medios-de-comunicacion-soci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77625" y="2491200"/>
            <a:ext cx="382225" cy="38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>
            <a:spLocks noGrp="1"/>
          </p:cNvSpPr>
          <p:nvPr>
            <p:ph type="title"/>
          </p:nvPr>
        </p:nvSpPr>
        <p:spPr>
          <a:xfrm>
            <a:off x="1303800" y="501425"/>
            <a:ext cx="7030500" cy="10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 generales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0"/>
              <a:t>Lo que aprendimos del análisis</a:t>
            </a:r>
            <a:endParaRPr sz="1650" b="0"/>
          </a:p>
        </p:txBody>
      </p:sp>
      <p:sp>
        <p:nvSpPr>
          <p:cNvPr id="339" name="Google Shape;339;p21"/>
          <p:cNvSpPr txBox="1">
            <a:spLocks noGrp="1"/>
          </p:cNvSpPr>
          <p:nvPr>
            <p:ph type="body" idx="1"/>
          </p:nvPr>
        </p:nvSpPr>
        <p:spPr>
          <a:xfrm>
            <a:off x="1194375" y="3595475"/>
            <a:ext cx="7030500" cy="16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/>
              <a:t>El análisis confirma una relación negativa entre el uso excesivo de redes sociales y el bienestar emocional de los estudiantes.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/>
              <a:t>La combinación de SQL, limpieza de datos, visualización y análisis estadístico permitió transformar los datos en evidencia interpretativa, mostrando el valor del enfoque de Data Science para comprender fenómenos sociales.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375" y="1395051"/>
            <a:ext cx="7599950" cy="215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DF1E9-E6EE-BA68-CE8C-143BF407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err="1"/>
              <a:t>Clustering</a:t>
            </a:r>
            <a:r>
              <a:rPr lang="es-AR" dirty="0"/>
              <a:t> – Agrupamiento de estudiantes según comportamiento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741AE8-4914-47FE-18A1-85459488C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3962731"/>
            <a:ext cx="7030500" cy="784109"/>
          </a:xfrm>
        </p:spPr>
        <p:txBody>
          <a:bodyPr>
            <a:normAutofit fontScale="77500" lnSpcReduction="20000"/>
          </a:bodyPr>
          <a:lstStyle/>
          <a:p>
            <a:r>
              <a:rPr lang="es-AR" dirty="0"/>
              <a:t>Se aplicó K-</a:t>
            </a:r>
            <a:r>
              <a:rPr lang="es-AR" dirty="0" err="1"/>
              <a:t>Means</a:t>
            </a:r>
            <a:r>
              <a:rPr lang="es-AR" dirty="0"/>
              <a:t> para identificar 3 grupos con patrones similares</a:t>
            </a:r>
          </a:p>
          <a:p>
            <a:r>
              <a:rPr lang="es-AR" dirty="0"/>
              <a:t>Variables: uso diario, sueño, saludos mental y adicción percibida.</a:t>
            </a:r>
          </a:p>
          <a:p>
            <a:r>
              <a:rPr lang="es-AR" dirty="0"/>
              <a:t>Cada clúster mostró un perfil distinto: saludable, intermedio y de riesgo</a:t>
            </a:r>
          </a:p>
          <a:p>
            <a:r>
              <a:rPr lang="es-AR" dirty="0"/>
              <a:t>Se utilizó PCA para reducir dimensiones y graficar.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997B82-EE5F-8EEC-D2AA-F64506AC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46" y="1675570"/>
            <a:ext cx="2877148" cy="213951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197FC26-57C1-86B5-A800-B38D0C7CF031}"/>
              </a:ext>
            </a:extLst>
          </p:cNvPr>
          <p:cNvSpPr txBox="1"/>
          <p:nvPr/>
        </p:nvSpPr>
        <p:spPr>
          <a:xfrm>
            <a:off x="4714408" y="2745326"/>
            <a:ext cx="37775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1F1F1F"/>
                </a:solidFill>
                <a:effectLst/>
                <a:latin typeface="Google Sans Text"/>
              </a:rPr>
              <a:t>🔴 </a:t>
            </a:r>
            <a:r>
              <a:rPr lang="es-ES" sz="1000" b="1" i="0" dirty="0" err="1">
                <a:solidFill>
                  <a:srgbClr val="1F1F1F"/>
                </a:solidFill>
                <a:effectLst/>
                <a:latin typeface="Google Sans Text"/>
              </a:rPr>
              <a:t>Cluster</a:t>
            </a:r>
            <a:r>
              <a:rPr lang="es-ES" sz="1000" b="1" i="0" dirty="0">
                <a:solidFill>
                  <a:srgbClr val="1F1F1F"/>
                </a:solidFill>
                <a:effectLst/>
                <a:latin typeface="Google Sans Text"/>
              </a:rPr>
              <a:t> 0</a:t>
            </a:r>
            <a:r>
              <a:rPr lang="es-ES" sz="1000" b="0" i="0" dirty="0">
                <a:solidFill>
                  <a:srgbClr val="1F1F1F"/>
                </a:solidFill>
                <a:effectLst/>
                <a:latin typeface="Google Sans Text"/>
              </a:rPr>
              <a:t>: mayor adicción a redes, menor salud mental, menos horas de sueño. Perfil de riesgo.</a:t>
            </a:r>
          </a:p>
          <a:p>
            <a:pPr algn="l"/>
            <a:r>
              <a:rPr lang="es-ES" sz="1000" b="0" i="0" dirty="0">
                <a:solidFill>
                  <a:srgbClr val="1F1F1F"/>
                </a:solidFill>
                <a:effectLst/>
                <a:latin typeface="Google Sans Text"/>
              </a:rPr>
              <a:t>🟢 </a:t>
            </a:r>
            <a:r>
              <a:rPr lang="es-ES" sz="1000" b="1" i="0" dirty="0" err="1">
                <a:solidFill>
                  <a:srgbClr val="1F1F1F"/>
                </a:solidFill>
                <a:effectLst/>
                <a:latin typeface="Google Sans Text"/>
              </a:rPr>
              <a:t>Cluster</a:t>
            </a:r>
            <a:r>
              <a:rPr lang="es-ES" sz="1000" b="1" i="0" dirty="0">
                <a:solidFill>
                  <a:srgbClr val="1F1F1F"/>
                </a:solidFill>
                <a:effectLst/>
                <a:latin typeface="Google Sans Text"/>
              </a:rPr>
              <a:t> 1</a:t>
            </a:r>
            <a:r>
              <a:rPr lang="es-ES" sz="1000" b="0" i="0" dirty="0">
                <a:solidFill>
                  <a:srgbClr val="1F1F1F"/>
                </a:solidFill>
                <a:effectLst/>
                <a:latin typeface="Google Sans Text"/>
              </a:rPr>
              <a:t>: menor uso de redes, mejor salud mental, más sueño. Perfil saludable.</a:t>
            </a:r>
          </a:p>
          <a:p>
            <a:pPr algn="l"/>
            <a:r>
              <a:rPr lang="es-ES" sz="1000" b="0" i="0" dirty="0">
                <a:solidFill>
                  <a:srgbClr val="1F1F1F"/>
                </a:solidFill>
                <a:effectLst/>
                <a:latin typeface="Google Sans Text"/>
              </a:rPr>
              <a:t>🟡 </a:t>
            </a:r>
            <a:r>
              <a:rPr lang="es-ES" sz="1000" b="1" i="0" dirty="0" err="1">
                <a:solidFill>
                  <a:srgbClr val="1F1F1F"/>
                </a:solidFill>
                <a:effectLst/>
                <a:latin typeface="Google Sans Text"/>
              </a:rPr>
              <a:t>Cluster</a:t>
            </a:r>
            <a:r>
              <a:rPr lang="es-ES" sz="1000" b="1" i="0" dirty="0">
                <a:solidFill>
                  <a:srgbClr val="1F1F1F"/>
                </a:solidFill>
                <a:effectLst/>
                <a:latin typeface="Google Sans Text"/>
              </a:rPr>
              <a:t> 2</a:t>
            </a:r>
            <a:r>
              <a:rPr lang="es-ES" sz="1000" b="0" i="0" dirty="0">
                <a:solidFill>
                  <a:srgbClr val="1F1F1F"/>
                </a:solidFill>
                <a:effectLst/>
                <a:latin typeface="Google Sans Text"/>
              </a:rPr>
              <a:t>: intermedio. Uso elevado de redes, pero con puntajes aceptables de salud mental y sueño.</a:t>
            </a:r>
          </a:p>
        </p:txBody>
      </p:sp>
      <p:pic>
        <p:nvPicPr>
          <p:cNvPr id="10" name="Imagen 9" descr="Tabla&#10;&#10;El contenido generado por IA puede ser incorrecto.">
            <a:extLst>
              <a:ext uri="{FF2B5EF4-FFF2-40B4-BE49-F238E27FC236}">
                <a16:creationId xmlns:a16="http://schemas.microsoft.com/office/drawing/2014/main" id="{82E1F62C-0D7C-7C5D-F417-277BC9791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06" y="1577229"/>
            <a:ext cx="4114799" cy="100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8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BC53A-5494-5A74-2A08-BDA816D3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Modelo de clasificación </a:t>
            </a:r>
            <a:br>
              <a:rPr lang="es-AR" dirty="0"/>
            </a:br>
            <a:r>
              <a:rPr lang="es-AR" sz="2000" b="0" dirty="0"/>
              <a:t>Predicción de adicción con </a:t>
            </a:r>
            <a:r>
              <a:rPr lang="es-AR" sz="2000" b="0" dirty="0" err="1"/>
              <a:t>Random</a:t>
            </a:r>
            <a:r>
              <a:rPr lang="es-AR" sz="2000" b="0" dirty="0"/>
              <a:t> Forest</a:t>
            </a:r>
            <a:endParaRPr lang="en-US" sz="2000" b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4CA975-782D-B119-D59D-1CB141BB3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3740643"/>
            <a:ext cx="7030500" cy="999300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Se creó una variable binaria: adicción si el uso supera las 4 horas diarias.</a:t>
            </a:r>
          </a:p>
          <a:p>
            <a:r>
              <a:rPr lang="es-ES" dirty="0"/>
              <a:t>Variables predictoras: sueño, salud mental, edad, adicción percibida.</a:t>
            </a:r>
          </a:p>
          <a:p>
            <a:r>
              <a:rPr lang="es-ES" dirty="0" err="1"/>
              <a:t>Random</a:t>
            </a:r>
            <a:r>
              <a:rPr lang="es-ES" dirty="0"/>
              <a:t> Forest logró una precisión del 92,5%.</a:t>
            </a:r>
          </a:p>
          <a:p>
            <a:r>
              <a:rPr lang="es-ES" dirty="0"/>
              <a:t>El modelo es robusto y detecta bien los casos de adicción.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ACE56D-F852-8AAD-1098-3E526D30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89" y="1597875"/>
            <a:ext cx="2667300" cy="214276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C2ECCA4-265D-9399-9988-A1DF52A6CF44}"/>
              </a:ext>
            </a:extLst>
          </p:cNvPr>
          <p:cNvSpPr txBox="1"/>
          <p:nvPr/>
        </p:nvSpPr>
        <p:spPr>
          <a:xfrm>
            <a:off x="4572000" y="1882688"/>
            <a:ext cx="29810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1F1F1F"/>
                </a:solidFill>
                <a:effectLst/>
                <a:latin typeface="Google Sans Text"/>
              </a:rPr>
              <a:t>🔍 El modelo tiene buena capacidad de detección (</a:t>
            </a:r>
            <a:r>
              <a:rPr lang="es-ES" b="0" i="0" dirty="0" err="1">
                <a:solidFill>
                  <a:srgbClr val="1F1F1F"/>
                </a:solidFill>
                <a:effectLst/>
                <a:latin typeface="Google Sans Text"/>
              </a:rPr>
              <a:t>recall</a:t>
            </a:r>
            <a:r>
              <a:rPr lang="es-ES" b="0" i="0" dirty="0">
                <a:solidFill>
                  <a:srgbClr val="1F1F1F"/>
                </a:solidFill>
                <a:effectLst/>
                <a:latin typeface="Google Sans Text"/>
              </a:rPr>
              <a:t>) y una tasa baja de error tipo II (falsos negativos), lo cual lo hace útil para intervenciones preventivas.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906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910AD-98F6-3DB0-BEDD-50C2F73E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Evaluación y Validación </a:t>
            </a:r>
            <a:br>
              <a:rPr lang="es-AR" dirty="0"/>
            </a:br>
            <a:r>
              <a:rPr lang="es-AR" sz="1800" b="0" dirty="0" err="1"/>
              <a:t>Validación</a:t>
            </a:r>
            <a:r>
              <a:rPr lang="es-AR" sz="1800" b="0" dirty="0"/>
              <a:t> del modelo y estabilidad</a:t>
            </a:r>
            <a:endParaRPr lang="en-US" sz="1800" b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588E91-4B23-F330-DF72-98F9E0809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3532350"/>
            <a:ext cx="7030500" cy="999300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Se usó validación cruzada con 5 </a:t>
            </a:r>
            <a:r>
              <a:rPr lang="es-ES" dirty="0" err="1"/>
              <a:t>folds</a:t>
            </a:r>
            <a:r>
              <a:rPr lang="es-ES" dirty="0"/>
              <a:t>.</a:t>
            </a:r>
          </a:p>
          <a:p>
            <a:r>
              <a:rPr lang="es-ES" dirty="0" err="1"/>
              <a:t>Accuracy</a:t>
            </a:r>
            <a:r>
              <a:rPr lang="es-ES" dirty="0"/>
              <a:t> promedio: 90.9%</a:t>
            </a:r>
          </a:p>
          <a:p>
            <a:r>
              <a:rPr lang="es-ES" dirty="0"/>
              <a:t>Desviación estándar: 0.039</a:t>
            </a:r>
          </a:p>
          <a:p>
            <a:r>
              <a:rPr lang="es-ES" dirty="0"/>
              <a:t>Confirma que el modelo es estable y generalizable.</a:t>
            </a:r>
            <a:endParaRPr lang="en-US" dirty="0"/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656DBD91-A96D-807A-D3A0-948AD164B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89" y="1749902"/>
            <a:ext cx="2595802" cy="163042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6DFFC27-E633-73FE-9D48-10E3C06B1670}"/>
              </a:ext>
            </a:extLst>
          </p:cNvPr>
          <p:cNvSpPr txBox="1"/>
          <p:nvPr/>
        </p:nvSpPr>
        <p:spPr>
          <a:xfrm>
            <a:off x="4474563" y="2119973"/>
            <a:ext cx="311795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1F1F1F"/>
                </a:solidFill>
                <a:effectLst/>
                <a:latin typeface="Google Sans Text"/>
              </a:rPr>
              <a:t>🔍 El modelo prefiere prevenir, prediciendo adicción incluso con riesgo de equivocarse en algunos casos (falsos positivos). Esto es aceptable en contextos preventivos.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10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671C5-CE30-5CCE-AE2C-9F671CFF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Comparación de modelos de clasificación</a:t>
            </a:r>
            <a:endParaRPr lang="en-US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69A97623-58DB-3A60-6F2F-0A1930DD5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705" y="1226071"/>
            <a:ext cx="3598733" cy="222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C454E9B-A968-F717-B5E9-74CCB5EC9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3532350"/>
            <a:ext cx="7030500" cy="999300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🌳 El Árbol de Decisión obtuvo el mejor rendimiento (93.4%) en este conjunto de datos.</a:t>
            </a:r>
          </a:p>
          <a:p>
            <a:r>
              <a:rPr lang="es-ES" dirty="0"/>
              <a:t>🌲 El modelo de </a:t>
            </a:r>
            <a:r>
              <a:rPr lang="es-ES" dirty="0" err="1"/>
              <a:t>Random</a:t>
            </a:r>
            <a:r>
              <a:rPr lang="es-ES" dirty="0"/>
              <a:t> Forest también tuvo una muy buena performance (92.5%) y es más robusto ante </a:t>
            </a:r>
            <a:r>
              <a:rPr lang="es-ES" dirty="0" err="1"/>
              <a:t>overfitting</a:t>
            </a:r>
            <a:r>
              <a:rPr lang="es-ES" dirty="0"/>
              <a:t>.</a:t>
            </a:r>
          </a:p>
          <a:p>
            <a:r>
              <a:rPr lang="es-ES" dirty="0"/>
              <a:t>📈 La Regresión Logística fue el modelo menos preciso (84.9%), posiblemente porque las relaciones entre variables no son lineales.</a:t>
            </a:r>
          </a:p>
          <a:p>
            <a:r>
              <a:rPr lang="es-ES" dirty="0"/>
              <a:t>📌 Según estos resultados, se recomienda seguir trabajando con </a:t>
            </a:r>
            <a:r>
              <a:rPr lang="es-ES" dirty="0" err="1"/>
              <a:t>Random</a:t>
            </a:r>
            <a:r>
              <a:rPr lang="es-ES" dirty="0"/>
              <a:t> Forest por su estabilidad, aunque el Árbol de Decisión simple fue el más exacto en esta corrida.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01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2AA32-CE15-3DEC-A125-F04D7C17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Conclusiones finales</a:t>
            </a:r>
            <a:br>
              <a:rPr lang="es-AR" dirty="0"/>
            </a:br>
            <a:r>
              <a:rPr lang="en-US" sz="2200" b="0" dirty="0" err="1"/>
              <a:t>Reflexiones</a:t>
            </a:r>
            <a:r>
              <a:rPr lang="en-US" sz="2200" b="0" dirty="0"/>
              <a:t> finales del </a:t>
            </a:r>
            <a:r>
              <a:rPr lang="en-US" sz="2200" b="0" dirty="0" err="1"/>
              <a:t>análisis</a:t>
            </a:r>
            <a:endParaRPr lang="en-US" sz="2200" b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C32AED-9185-C282-CB5B-613AE0B85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s-ES" dirty="0"/>
              <a:t>      El uso intensivo de redes impacta negativamente en descanso y salud mental. </a:t>
            </a:r>
          </a:p>
          <a:p>
            <a:pPr marL="146050" indent="0">
              <a:buNone/>
            </a:pPr>
            <a:endParaRPr lang="es-ES" dirty="0"/>
          </a:p>
          <a:p>
            <a:endParaRPr lang="es-ES" dirty="0"/>
          </a:p>
          <a:p>
            <a:pPr marL="146050" indent="0">
              <a:buNone/>
            </a:pPr>
            <a:r>
              <a:rPr lang="es-ES" dirty="0"/>
              <a:t>      Los perfiles estudiantiles permiten pensar intervenciones diferenciadas.</a:t>
            </a:r>
          </a:p>
          <a:p>
            <a:pPr marL="146050" indent="0">
              <a:buNone/>
            </a:pPr>
            <a:endParaRPr lang="es-ES" dirty="0"/>
          </a:p>
          <a:p>
            <a:endParaRPr lang="es-ES" dirty="0"/>
          </a:p>
          <a:p>
            <a:pPr marL="146050" indent="0">
              <a:buNone/>
            </a:pPr>
            <a:r>
              <a:rPr lang="es-ES" dirty="0"/>
              <a:t>      Los modelos de Machine </a:t>
            </a:r>
            <a:r>
              <a:rPr lang="es-ES" dirty="0" err="1"/>
              <a:t>Learning</a:t>
            </a:r>
            <a:r>
              <a:rPr lang="es-ES" dirty="0"/>
              <a:t> permiten detectar y anticipar riesgos.</a:t>
            </a:r>
          </a:p>
          <a:p>
            <a:pPr marL="146050" indent="0">
              <a:buNone/>
            </a:pPr>
            <a:endParaRPr lang="es-ES" dirty="0"/>
          </a:p>
          <a:p>
            <a:endParaRPr lang="es-ES" dirty="0"/>
          </a:p>
          <a:p>
            <a:pPr marL="146050" indent="0">
              <a:buNone/>
            </a:pPr>
            <a:r>
              <a:rPr lang="es-ES" dirty="0"/>
              <a:t>      El trabajo combinó análisis estadístico y predictivo con valor educativo.</a:t>
            </a:r>
            <a:endParaRPr lang="en-US" dirty="0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FF77FCE-5272-FE40-B58B-2F4C2797F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05" y="1946658"/>
            <a:ext cx="449706" cy="449706"/>
          </a:xfrm>
          <a:prstGeom prst="rect">
            <a:avLst/>
          </a:prstGeom>
        </p:spPr>
      </p:pic>
      <p:pic>
        <p:nvPicPr>
          <p:cNvPr id="8" name="Imagen 7" descr="Forma&#10;&#10;El contenido generado por IA puede ser incorrecto.">
            <a:extLst>
              <a:ext uri="{FF2B5EF4-FFF2-40B4-BE49-F238E27FC236}">
                <a16:creationId xmlns:a16="http://schemas.microsoft.com/office/drawing/2014/main" id="{86CB0FF8-B27A-C5FC-1177-5C2EBEDC4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71" y="2629606"/>
            <a:ext cx="449706" cy="449706"/>
          </a:xfrm>
          <a:prstGeom prst="rect">
            <a:avLst/>
          </a:prstGeom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540999FD-A8BF-36C6-9B50-ACF1F7C42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352" y="3312553"/>
            <a:ext cx="564325" cy="564325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2615C18E-7446-9ABA-7956-8077E319D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662" y="4068026"/>
            <a:ext cx="507016" cy="5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84298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887</Words>
  <Application>Microsoft Office PowerPoint</Application>
  <PresentationFormat>Presentación en pantalla (16:9)</PresentationFormat>
  <Paragraphs>82</Paragraphs>
  <Slides>14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Maven Pro</vt:lpstr>
      <vt:lpstr>Arial</vt:lpstr>
      <vt:lpstr>Nunito</vt:lpstr>
      <vt:lpstr>Google Sans Text</vt:lpstr>
      <vt:lpstr>Momentum</vt:lpstr>
      <vt:lpstr>Entrega Final - Data Science II</vt:lpstr>
      <vt:lpstr>Contexto y Audiencia</vt:lpstr>
      <vt:lpstr>Hipótesis o Preguntas de interés</vt:lpstr>
      <vt:lpstr>Datos y herramientas utilizadas</vt:lpstr>
      <vt:lpstr>Análisis exploratorio ¿Qué patrones se observan en el comportamiento digital?</vt:lpstr>
      <vt:lpstr>Storytelling GIS Mapa: uso promedio por país</vt:lpstr>
      <vt:lpstr>Análisis univariado, bivariado y multivariado</vt:lpstr>
      <vt:lpstr> Insights y Recomendaciones</vt:lpstr>
      <vt:lpstr>Conclusiones generales Lo que aprendimos del análisis</vt:lpstr>
      <vt:lpstr>Clustering – Agrupamiento de estudiantes según comportamiento</vt:lpstr>
      <vt:lpstr>Modelo de clasificación  Predicción de adicción con Random Forest</vt:lpstr>
      <vt:lpstr>Evaluación y Validación  Validación del modelo y estabilidad</vt:lpstr>
      <vt:lpstr>Comparación de modelos de clasificación</vt:lpstr>
      <vt:lpstr>Conclusiones finales Reflexiones finales del análisis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Julieta .</dc:creator>
  <cp:lastModifiedBy>Julieta .</cp:lastModifiedBy>
  <cp:revision>2</cp:revision>
  <dcterms:modified xsi:type="dcterms:W3CDTF">2025-12-11T20:33:02Z</dcterms:modified>
</cp:coreProperties>
</file>